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0D1F2D"/>
                </a:solidFill>
                <a:latin typeface="JetBrains Mono"/>
              </a:rPr>
              <a:t>{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JetBrains Mono"/>
              </a:rPr>
              <a:t>K0126002 · Web Programming · 2026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EDF2F7"/>
                </a:solidFill>
                <a:latin typeface="Outfit"/>
              </a:rP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00C9A7"/>
                </a:solidFill>
                <a:latin typeface="Outfit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F8BA4"/>
                </a:solidFill>
                <a:latin typeface="Plus Jakarta Sans"/>
              </a:rPr>
              <a:t>Build · Deploy · Present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20440"/>
            <a:ext cx="2697480" cy="1097280"/>
          </a:xfrm>
          <a:prstGeom prst="rect">
            <a:avLst/>
          </a:prstGeom>
          <a:solidFill>
            <a:srgbClr val="0D1F2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6393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A7"/>
                </a:solidFill>
                <a:latin typeface="Outfit"/>
              </a:rP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of total grade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520440"/>
            <a:ext cx="2697480" cy="1097280"/>
          </a:xfrm>
          <a:prstGeom prst="rect">
            <a:avLst/>
          </a:prstGeom>
          <a:solidFill>
            <a:srgbClr val="0D1F2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36393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A7"/>
                </a:solidFill>
                <a:latin typeface="Outfit"/>
              </a:rPr>
              <a:t>3–4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team members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520440"/>
            <a:ext cx="2697480" cy="1097280"/>
          </a:xfrm>
          <a:prstGeom prst="rect">
            <a:avLst/>
          </a:prstGeom>
          <a:solidFill>
            <a:srgbClr val="0D1F2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36393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A7"/>
                </a:solidFill>
                <a:latin typeface="Outfit"/>
              </a:rPr>
              <a:t>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presentations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3520440"/>
            <a:ext cx="2697480" cy="1097280"/>
          </a:xfrm>
          <a:prstGeom prst="rect">
            <a:avLst/>
          </a:prstGeom>
          <a:solidFill>
            <a:srgbClr val="0D1F2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08592" y="36393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A7"/>
                </a:solidFill>
                <a:latin typeface="Outfit"/>
              </a:rPr>
              <a:t>Wk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final deadline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92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Plus Jakarta Sans"/>
              </a:rPr>
              <a:t>Dr. Mukhiddin Toshpulatov  ·  muhiddin@gachon.ac.kr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01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TEAM 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DF2F7"/>
                </a:solidFill>
                <a:latin typeface="Outfit"/>
              </a:rPr>
              <a:t>Form </a:t>
            </a:r>
            <a:r>
              <a:rPr sz="4000" b="1">
                <a:solidFill>
                  <a:srgbClr val="00C9A7"/>
                </a:solidFill>
                <a:latin typeface="Outfit"/>
              </a:rPr>
              <a:t>your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2926080" cy="2560320"/>
          </a:xfrm>
          <a:prstGeom prst="rect">
            <a:avLst/>
          </a:prstGeom>
          <a:solidFill>
            <a:srgbClr val="0D1F2D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C9A7"/>
                </a:solidFill>
                <a:latin typeface="Outfi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F2F7"/>
                </a:solidFill>
                <a:latin typeface="Outfit"/>
              </a:rPr>
              <a:t>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27248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For straightforward projects — a focused scope that three people can build and ship well.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1828800"/>
            <a:ext cx="2926080" cy="2560320"/>
          </a:xfrm>
          <a:prstGeom prst="rect">
            <a:avLst/>
          </a:prstGeom>
          <a:solidFill>
            <a:srgbClr val="0D1F2D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196596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D166"/>
                </a:solidFill>
                <a:latin typeface="Outfi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788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F2F7"/>
                </a:solidFill>
                <a:latin typeface="Outfit"/>
              </a:rPr>
              <a:t>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127248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For more complex projects — more features, a broader scope, richer final product.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51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5F8BA4"/>
                </a:solidFill>
                <a:latin typeface="Outfit"/>
              </a:rPr>
              <a:t>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828800"/>
            <a:ext cx="5029200" cy="65836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198424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  <a:latin typeface="Plus Jakarta Sans"/>
              </a:rPr>
              <a:t>🏛️  All members from the same class section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578608"/>
            <a:ext cx="5029200" cy="65836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273405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  <a:latin typeface="Plus Jakarta Sans"/>
              </a:rPr>
              <a:t>🔀  Team composition is final after Week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328416"/>
            <a:ext cx="5029200" cy="65836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348386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DF2F7"/>
                </a:solidFill>
                <a:latin typeface="Plus Jakarta Sans"/>
              </a:rPr>
              <a:t>📋  Register team name + GitHub repo by Week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078224"/>
            <a:ext cx="5029200" cy="65836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423367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DF2F7"/>
                </a:solidFill>
                <a:latin typeface="Plus Jakarta Sans"/>
              </a:rPr>
              <a:t>📊  Complexity must justify team size — justify your choice in the proposal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4828032"/>
            <a:ext cx="5029200" cy="65836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498348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6B6B"/>
                </a:solidFill>
                <a:latin typeface="Plus Jakarta Sans"/>
              </a:rPr>
              <a:t>🚫  No solo projects — minimum 3 people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02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MIDTERM WEEK ·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0C9A7"/>
                </a:solidFill>
                <a:latin typeface="Outfit"/>
              </a:rPr>
              <a:t>Midterm</a:t>
            </a:r>
            <a:r>
              <a:rPr sz="4000" b="1">
                <a:solidFill>
                  <a:srgbClr val="EDF2F7"/>
                </a:solidFill>
                <a:latin typeface="Outfit"/>
              </a:rPr>
              <a:t>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8BA4"/>
                </a:solidFill>
                <a:latin typeface="Plus Jakarta Sans"/>
              </a:rPr>
              <a:t>You are selling your idea. Show us what you plan to build, who is building it, and that it is achievable.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2468880" cy="10972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121408"/>
            <a:ext cx="2468880" cy="338328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128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9A7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700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F2F7"/>
                </a:solidFill>
                <a:latin typeface="Outfit"/>
              </a:rPr>
              <a:t>Project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F8BA4"/>
                </a:solidFill>
                <a:latin typeface="Plus Jakarta Sans"/>
              </a:rPr>
              <a:t>What does your app do?
Who is it for? What problem does it solve?
One clear sentence you can say without slides.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2011680"/>
            <a:ext cx="2468880" cy="1097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54680" y="2121408"/>
            <a:ext cx="2468880" cy="338328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22128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166"/>
                </a:solidFill>
                <a:latin typeface="JetBrain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6700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F2F7"/>
                </a:solidFill>
                <a:latin typeface="Outfit"/>
              </a:rPr>
              <a:t>Team members &amp; responsibilities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10896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Show every member's name and their specific role:
Frontend · Backend · Design · DB · DevOps
No vague "contributed to everything" answers.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2011680"/>
            <a:ext cx="2468880" cy="109728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06440" y="2121408"/>
            <a:ext cx="2468880" cy="338328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0" y="22128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D996"/>
                </a:solidFill>
                <a:latin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6700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F2F7"/>
                </a:solidFill>
                <a:latin typeface="Outfit"/>
              </a:rPr>
              <a:t>Prototype or screenshots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108960"/>
            <a:ext cx="2194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F8BA4"/>
                </a:solidFill>
                <a:latin typeface="Plus Jakarta Sans"/>
              </a:rPr>
              <a:t>At minimum: wireframes of the key screens.
Better: a live Figma prototype or </a:t>
            </a:r>
            <a:r>
              <a:rPr lang="en-US" sz="1200" b="0" i="0" dirty="0">
                <a:solidFill>
                  <a:srgbClr val="5F8BA4"/>
                </a:solidFill>
                <a:latin typeface="Plus Jakarta Sans"/>
              </a:rPr>
              <a:t>an </a:t>
            </a:r>
            <a:r>
              <a:rPr sz="1200" b="0" i="0" dirty="0">
                <a:solidFill>
                  <a:srgbClr val="5F8BA4"/>
                </a:solidFill>
                <a:latin typeface="Plus Jakarta Sans"/>
              </a:rPr>
              <a:t>early HTML mock.
Best: working code, even if rough.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2011680"/>
            <a:ext cx="2468880" cy="109728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58200" y="2121408"/>
            <a:ext cx="2468880" cy="338328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0" y="22128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88BFF"/>
                </a:solidFill>
                <a:latin typeface="JetBrains Mon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6700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F2F7"/>
                </a:solidFill>
                <a:latin typeface="Outfit"/>
              </a:rPr>
              <a:t>Tech stack &amp; hosting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108960"/>
            <a:ext cx="2194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F8BA4"/>
                </a:solidFill>
                <a:latin typeface="Plus Jakarta Sans"/>
              </a:rPr>
              <a:t>What languages, frameworks, </a:t>
            </a:r>
            <a:r>
              <a:rPr lang="en-US" sz="1200" b="0" i="0" dirty="0">
                <a:solidFill>
                  <a:srgbClr val="5F8BA4"/>
                </a:solidFill>
                <a:latin typeface="Plus Jakarta Sans"/>
              </a:rPr>
              <a:t>and </a:t>
            </a:r>
            <a:r>
              <a:rPr sz="1200" b="0" i="0" dirty="0">
                <a:solidFill>
                  <a:srgbClr val="5F8BA4"/>
                </a:solidFill>
                <a:latin typeface="Plus Jakarta Sans"/>
              </a:rPr>
              <a:t>libraries?
Where will you deploy? (GitHub Pages, </a:t>
            </a:r>
            <a:r>
              <a:rPr sz="1200" b="0" i="0" dirty="0" err="1">
                <a:solidFill>
                  <a:srgbClr val="5F8BA4"/>
                </a:solidFill>
                <a:latin typeface="Plus Jakarta Sans"/>
              </a:rPr>
              <a:t>Vercel</a:t>
            </a:r>
            <a:r>
              <a:rPr sz="1200" b="0" i="0" dirty="0">
                <a:solidFill>
                  <a:srgbClr val="5F8BA4"/>
                </a:solidFill>
                <a:latin typeface="Plus Jakarta Sans"/>
              </a:rPr>
              <a:t>, Netlify…)
Why did you choose these tools?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solidFill>
            <a:srgbClr val="132636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5779008"/>
            <a:ext cx="10789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DF2F7"/>
                </a:solidFill>
                <a:latin typeface="Plus Jakarta Sans"/>
              </a:rPr>
              <a:t>⏱  Each team gets 8–10 minutes to present + 3 minutes </a:t>
            </a:r>
            <a:r>
              <a:rPr lang="en-US" sz="1300" b="0" i="0" dirty="0">
                <a:solidFill>
                  <a:srgbClr val="EDF2F7"/>
                </a:solidFill>
                <a:latin typeface="Plus Jakarta Sans"/>
              </a:rPr>
              <a:t>of </a:t>
            </a:r>
            <a:r>
              <a:rPr sz="1300" b="0" i="0" dirty="0">
                <a:solidFill>
                  <a:srgbClr val="EDF2F7"/>
                </a:solidFill>
                <a:latin typeface="Plus Jakarta Sans"/>
              </a:rPr>
              <a:t>Q&amp;A.  Slides are optional — a live demo beats bullet points every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03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WEEK 14 ·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0C9A7"/>
                </a:solidFill>
                <a:latin typeface="Outfit"/>
              </a:rPr>
              <a:t>Final</a:t>
            </a:r>
            <a:r>
              <a:rPr sz="4000" b="1">
                <a:solidFill>
                  <a:srgbClr val="EDF2F7"/>
                </a:solidFill>
                <a:latin typeface="Outfit"/>
              </a:rPr>
              <a:t>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8BA4"/>
                </a:solidFill>
                <a:latin typeface="Plus Jakarta Sans"/>
              </a:rPr>
              <a:t>Ship it. The final product must be live, accessible by anyone on the internet, right now, during your presentation.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914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5394960" cy="164592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  <a:latin typeface="Outfit"/>
              </a:rPr>
              <a:t>🌐  Publicly hosted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78608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F8BA4"/>
                </a:solidFill>
                <a:latin typeface="Plus Jakarta Sans"/>
              </a:rPr>
              <a:t>The app must be reachable via a real URL.
Free options: GitHub Pages, Vercel, Netlify, Render, Railway.
Self-signed certs or localhost = not accepted.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394960" cy="91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2103120"/>
            <a:ext cx="5394960" cy="164592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1072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Outfit"/>
              </a:rPr>
              <a:t>💻  Production-ready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578608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F8BA4"/>
                </a:solidFill>
                <a:latin typeface="Plus Jakarta Sans"/>
              </a:rPr>
              <a:t>No placeholder text, broken links, or "coming soon" sections.
All core features must work on the day.
Test on Chrome AND mobile before presenting.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40480"/>
            <a:ext cx="5394960" cy="91440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931920"/>
            <a:ext cx="5394960" cy="164592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D996"/>
                </a:solidFill>
                <a:latin typeface="Outfit"/>
              </a:rPr>
              <a:t>🎯  Meets the 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407408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F8BA4"/>
                </a:solidFill>
                <a:latin typeface="Plus Jakarta Sans"/>
              </a:rPr>
              <a:t>Your final product must implement what you proposed at midterm,
or explain (in the presentation) why scope changed.
Scope cuts are fine — surprise pivots are not.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840480"/>
            <a:ext cx="5394960" cy="9144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3931920"/>
            <a:ext cx="5394960" cy="164592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8BFF"/>
                </a:solidFill>
                <a:latin typeface="Outfit"/>
              </a:rPr>
              <a:t>📁  Code on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4407408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F8BA4"/>
                </a:solidFill>
                <a:latin typeface="Plus Jakarta Sans"/>
              </a:rPr>
              <a:t>Public repo with clear README, live URL in the repo description.
Commit history must show all members contributed.
Zero commits from one person = grade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04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EVALUATION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DF2F7"/>
                </a:solidFill>
                <a:latin typeface="Outfit"/>
              </a:rPr>
              <a:t>How you are </a:t>
            </a:r>
            <a:r>
              <a:rPr sz="4000" b="1">
                <a:solidFill>
                  <a:srgbClr val="00C9A7"/>
                </a:solidFill>
                <a:latin typeface="Outfit"/>
              </a:rPr>
              <a:t>evaluated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3657600" cy="10972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984248"/>
            <a:ext cx="3657600" cy="26060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084831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C9A7"/>
                </a:solidFill>
                <a:latin typeface="Outfit"/>
              </a:rPr>
              <a:t>~33%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974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F2F7"/>
                </a:solidFill>
                <a:latin typeface="Outfit"/>
              </a:rPr>
              <a:t>Professor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072384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F8BA4"/>
                </a:solidFill>
                <a:latin typeface="Plus Jakarta Sans"/>
              </a:rPr>
              <a:t>Evaluates concept clarity, technical depth, code quality, and completeness of the solution.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3657600" cy="1097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984248"/>
            <a:ext cx="3657600" cy="26060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D166"/>
                </a:solidFill>
                <a:latin typeface="Outfit"/>
              </a:rPr>
              <a:t>~33%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6974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F2F7"/>
                </a:solidFill>
                <a:latin typeface="Outfit"/>
              </a:rPr>
              <a:t>Teaching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072384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F8BA4"/>
                </a:solidFill>
                <a:latin typeface="Plus Jakarta Sans"/>
              </a:rPr>
              <a:t>Reviews code structure, version control habits, individual contribution, and documentation.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874519"/>
            <a:ext cx="3657600" cy="109728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80" y="1984248"/>
            <a:ext cx="3657600" cy="26060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48472" y="2084831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38D996"/>
                </a:solidFill>
                <a:latin typeface="Outfit"/>
              </a:rPr>
              <a:t>~33%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6974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F2F7"/>
                </a:solidFill>
                <a:latin typeface="Outfit"/>
              </a:rPr>
              <a:t>Peer 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3072384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F8BA4"/>
                </a:solidFill>
                <a:latin typeface="Plus Jakarta Sans"/>
              </a:rPr>
              <a:t>Every student evaluates all other teams in the room — except their own team.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F8BA4"/>
                </a:solidFill>
                <a:latin typeface="JetBrains Mono"/>
              </a:rPr>
              <a:t>Professor score  +  TA score  +  average peer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74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F8BA4"/>
                </a:solidFill>
                <a:latin typeface="JetBrains Mono"/>
              </a:rPr>
              <a:t>────────────────────────────────────────────────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49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F8BA4"/>
                </a:solidFill>
                <a:latin typeface="JetBrains Mono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5760720"/>
            <a:ext cx="2130552" cy="658368"/>
          </a:xfrm>
          <a:prstGeom prst="rect">
            <a:avLst/>
          </a:prstGeom>
          <a:solidFill>
            <a:srgbClr val="132636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5870448"/>
            <a:ext cx="2130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9A7"/>
                </a:solidFill>
                <a:latin typeface="Outfit"/>
              </a:rPr>
              <a:t>= your 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05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PEER EVALUATION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DF2F7"/>
                </a:solidFill>
                <a:latin typeface="Outfit"/>
              </a:rPr>
              <a:t>Evaluate </a:t>
            </a:r>
            <a:r>
              <a:rPr sz="4000" b="1">
                <a:solidFill>
                  <a:srgbClr val="00C9A7"/>
                </a:solidFill>
                <a:latin typeface="Outfit"/>
              </a:rPr>
              <a:t>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8BA4"/>
                </a:solidFill>
                <a:latin typeface="Plus Jakarta Sans"/>
              </a:rPr>
              <a:t>Your peer evaluation is a grade component. Inflating scores for friends, or punishing rivals, undermines the system for everyone — including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5394960" cy="1261872"/>
          </a:xfrm>
          <a:prstGeom prst="rect">
            <a:avLst/>
          </a:prstGeom>
          <a:solidFill>
            <a:srgbClr val="0D1F2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2128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9A7"/>
                </a:solidFill>
                <a:latin typeface="Plus Jakarta Sans"/>
              </a:rPr>
              <a:t>✓  Evaluate every team except your 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You cannot score yourself. All other teams get your score.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74720"/>
            <a:ext cx="5394960" cy="1261872"/>
          </a:xfrm>
          <a:prstGeom prst="rect">
            <a:avLst/>
          </a:prstGeom>
          <a:solidFill>
            <a:srgbClr val="0D1F2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584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9A7"/>
                </a:solidFill>
                <a:latin typeface="Plus Jakarta Sans"/>
              </a:rPr>
              <a:t>✓  Use the full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A 7/10 for a good project and 9/10 for an outstanding one is honest.
Giving everyone 10/10 is detected and discarded.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846320"/>
            <a:ext cx="5394960" cy="1261872"/>
          </a:xfrm>
          <a:prstGeom prst="rect">
            <a:avLst/>
          </a:prstGeom>
          <a:solidFill>
            <a:srgbClr val="0D1F2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9560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9A7"/>
                </a:solidFill>
                <a:latin typeface="Plus Jakarta Sans"/>
              </a:rPr>
              <a:t>✓  Base it on the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0352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Did they demo a real, working product?
Did all members know their part? Is the scope reasonable?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03120"/>
            <a:ext cx="5394960" cy="1261872"/>
          </a:xfrm>
          <a:prstGeom prst="rect">
            <a:avLst/>
          </a:prstGeom>
          <a:solidFill>
            <a:srgbClr val="0D1F2D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22128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6B6B"/>
                </a:solidFill>
                <a:latin typeface="Plus Jakarta Sans"/>
              </a:rPr>
              <a:t>✕  Do not inflate scores for friends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6032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Outlier scores (much higher or lower than the class average for that team) are flagged and reviewed.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474720"/>
            <a:ext cx="5394960" cy="1261872"/>
          </a:xfrm>
          <a:prstGeom prst="rect">
            <a:avLst/>
          </a:prstGeom>
          <a:solidFill>
            <a:srgbClr val="0D1F2D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584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6B6B"/>
                </a:solidFill>
                <a:latin typeface="Plus Jakarta Sans"/>
              </a:rPr>
              <a:t>✕  Do not give zero as a protest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3192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Malicious low scores are removed from the average.
You will be contacted if your scoring pattern looks suspicious.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846320"/>
            <a:ext cx="5394960" cy="1261872"/>
          </a:xfrm>
          <a:prstGeom prst="rect">
            <a:avLst/>
          </a:prstGeom>
          <a:solidFill>
            <a:srgbClr val="0D1F2D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49560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6B6B"/>
                </a:solidFill>
                <a:latin typeface="Plus Jakarta Sans"/>
              </a:rPr>
              <a:t>✕  Do not coordinate scores with your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303520"/>
            <a:ext cx="5029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Identical scores submitted by a whole team for a competitor look exactly like what they are.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06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INTEGRATED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DF2F7"/>
                </a:solidFill>
                <a:latin typeface="Outfit"/>
              </a:rPr>
              <a:t>Final grade: how it </a:t>
            </a:r>
            <a:r>
              <a:rPr sz="4000" b="1">
                <a:solidFill>
                  <a:srgbClr val="00C9A7"/>
                </a:solidFill>
                <a:latin typeface="Outfit"/>
              </a:rPr>
              <a:t>adds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8BA4"/>
                </a:solidFill>
                <a:latin typeface="Plus Jakarta Sans"/>
              </a:rPr>
              <a:t>Your project grade comes from four components — every number is independent, then combined.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2743200" cy="914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2743200" cy="246888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128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C9A7"/>
                </a:solidFill>
                <a:latin typeface="Outfit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DF2F7"/>
                </a:solidFill>
                <a:latin typeface="Outfit"/>
              </a:rPr>
              <a:t>Midterm
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Proposal quality, prototype, clarity of responsibilities.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011680"/>
            <a:ext cx="2743200" cy="91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3280" y="2103120"/>
            <a:ext cx="2743200" cy="246888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22128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D166"/>
                </a:solidFill>
                <a:latin typeface="Outfit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83464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DF2F7"/>
                </a:solidFill>
                <a:latin typeface="Outfit"/>
              </a:rPr>
              <a:t>Final
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Live product, completeness, hosting, polish.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011680"/>
            <a:ext cx="2743200" cy="91440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103120"/>
            <a:ext cx="2743200" cy="246888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2128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8D996"/>
                </a:solidFill>
                <a:latin typeface="Outfit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3464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DF2F7"/>
                </a:solidFill>
                <a:latin typeface="Outfit"/>
              </a:rPr>
              <a:t>Peer evaluation
(relative)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How your team ranked against others on average peer scores.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011680"/>
            <a:ext cx="2743200" cy="9144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2103120"/>
            <a:ext cx="2743200" cy="246888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60" y="22128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A88BFF"/>
                </a:solidFill>
                <a:latin typeface="Outfit"/>
              </a:rP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83464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DF2F7"/>
                </a:solidFill>
                <a:latin typeface="Outfit"/>
              </a:rPr>
              <a:t>Peer evaluation
(absolute)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Your raw average peer score, independent of class rank.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006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F8BA4"/>
                </a:solidFill>
                <a:latin typeface="JetBrains Mono"/>
              </a:rPr>
              <a:t>KEY DATES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102352"/>
            <a:ext cx="2103120" cy="822960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" y="5166360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F8BA4"/>
                </a:solidFill>
                <a:latin typeface="JetBrains Mono"/>
              </a:rPr>
              <a:t>WEEK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422392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F2F7"/>
                </a:solidFill>
                <a:latin typeface="Plus Jakarta Sans"/>
              </a:rPr>
              <a:t>Team registration deadline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0" y="5102352"/>
            <a:ext cx="2103120" cy="822960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07208" y="5166360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F8BA4"/>
                </a:solidFill>
                <a:latin typeface="JetBrains Mono"/>
              </a:rPr>
              <a:t>WEEK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07208" y="5422392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F2F7"/>
                </a:solidFill>
                <a:latin typeface="Plus Jakarta Sans"/>
              </a:rPr>
              <a:t>GitHub repo + project proposal doc submitted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5102352"/>
            <a:ext cx="2103120" cy="822960"/>
          </a:xfrm>
          <a:prstGeom prst="rect">
            <a:avLst/>
          </a:prstGeom>
          <a:solidFill>
            <a:srgbClr val="0D1F2D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01768" y="5166360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  <a:latin typeface="JetBrains Mono"/>
              </a:rPr>
              <a:t>WEEK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01768" y="5422392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F2F7"/>
                </a:solidFill>
                <a:latin typeface="Plus Jakarta Sans"/>
              </a:rPr>
              <a:t>Midterm presentations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86600" y="5102352"/>
            <a:ext cx="2103120" cy="822960"/>
          </a:xfrm>
          <a:prstGeom prst="rect">
            <a:avLst/>
          </a:prstGeom>
          <a:solidFill>
            <a:srgbClr val="0D1F2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96328" y="5166360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JetBrains Mono"/>
              </a:rPr>
              <a:t>WEEK 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96328" y="5422392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F2F7"/>
                </a:solidFill>
                <a:latin typeface="Plus Jakarta Sans"/>
              </a:rPr>
              <a:t>Final product submitted + hosted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81160" y="5102352"/>
            <a:ext cx="2103120" cy="822960"/>
          </a:xfrm>
          <a:prstGeom prst="rect">
            <a:avLst/>
          </a:prstGeom>
          <a:solidFill>
            <a:srgbClr val="0D1F2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90888" y="5166360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JetBrains Mono"/>
              </a:rPr>
              <a:t>WEEK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90888" y="5422392"/>
            <a:ext cx="1883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F2F7"/>
                </a:solidFill>
                <a:latin typeface="Plus Jakarta Sans"/>
              </a:rPr>
              <a:t>Final presentations + peer evaluation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07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DF2F7"/>
                </a:solidFill>
                <a:latin typeface="Outfit"/>
              </a:rPr>
              <a:t>Everything on </a:t>
            </a:r>
            <a:r>
              <a:rPr sz="4000" b="1">
                <a:solidFill>
                  <a:srgbClr val="00C9A7"/>
                </a:solidFill>
                <a:latin typeface="Outfit"/>
              </a:rPr>
              <a:t>one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5486400" cy="932688"/>
          </a:xfrm>
          <a:prstGeom prst="rect">
            <a:avLst/>
          </a:prstGeom>
          <a:solidFill>
            <a:srgbClr val="0D1F2D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84247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Outfit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13431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F8BA4"/>
                </a:solidFill>
                <a:latin typeface="Plus Jakarta Sans"/>
              </a:rPr>
              <a:t>3–4 members · same section · register by Week 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98647"/>
            <a:ext cx="5486400" cy="932688"/>
          </a:xfrm>
          <a:prstGeom prst="rect">
            <a:avLst/>
          </a:prstGeom>
          <a:solidFill>
            <a:srgbClr val="0D1F2D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008375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Outfit"/>
              </a:rPr>
              <a:t>Midterm (Wk 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F8BA4"/>
                </a:solidFill>
                <a:latin typeface="Plus Jakarta Sans"/>
              </a:rPr>
              <a:t>Proposal · member roles · prototype · tech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922775"/>
            <a:ext cx="5486400" cy="932688"/>
          </a:xfrm>
          <a:prstGeom prst="rect">
            <a:avLst/>
          </a:prstGeom>
          <a:solidFill>
            <a:srgbClr val="0D1F2D"/>
          </a:solidFill>
          <a:ln w="1905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032503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D996"/>
                </a:solidFill>
                <a:latin typeface="Outfit"/>
              </a:rPr>
              <a:t>Final (Wk 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61687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F8BA4"/>
                </a:solidFill>
                <a:latin typeface="Plus Jakarta Sans"/>
              </a:rPr>
              <a:t>Live hosted product · GitHub repo · all features working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946903"/>
            <a:ext cx="5486400" cy="932688"/>
          </a:xfrm>
          <a:prstGeom prst="rect">
            <a:avLst/>
          </a:prstGeom>
          <a:solidFill>
            <a:srgbClr val="0D1F2D"/>
          </a:solidFill>
          <a:ln w="19050">
            <a:solidFill>
              <a:srgbClr val="A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5056631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8BFF"/>
                </a:solidFill>
                <a:latin typeface="Outfit"/>
              </a:rP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85815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F8BA4"/>
                </a:solidFill>
                <a:latin typeface="Plus Jakarta Sans"/>
              </a:rPr>
              <a:t>Prof + TA + peer average · honest scoring required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874519"/>
            <a:ext cx="5394960" cy="65836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05739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JetBrains Mono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03911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DF2F7"/>
                </a:solidFill>
                <a:latin typeface="Plus Jakarta Sans"/>
              </a:rPr>
              <a:t>Public URL — accessible on any device, any network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624327"/>
            <a:ext cx="5394960" cy="65836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2807207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JetBrains Mono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78891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DF2F7"/>
                </a:solidFill>
                <a:latin typeface="Plus Jakarta Sans"/>
              </a:rPr>
              <a:t>GitHub repo — public, README with live link, all members commit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374135"/>
            <a:ext cx="5394960" cy="65836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557015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JetBrains Mono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538727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DF2F7"/>
                </a:solidFill>
                <a:latin typeface="Plus Jakarta Sans"/>
              </a:rPr>
              <a:t>Every member speaks during both presentations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123943"/>
            <a:ext cx="5394960" cy="65836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4306823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JetBrains Mono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288535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DF2F7"/>
                </a:solidFill>
                <a:latin typeface="Plus Jakarta Sans"/>
              </a:rPr>
              <a:t>No localhost, no "it works on my machine"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873751"/>
            <a:ext cx="5394960" cy="65836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505663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JetBrains Mono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038343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DF2F7"/>
                </a:solidFill>
                <a:latin typeface="Plus Jakarta Sans"/>
              </a:rPr>
              <a:t>No AI-generated code submitted without understanding 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623559"/>
            <a:ext cx="5394960" cy="65836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6520" y="580643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JetBrains Mono"/>
              </a:rPr>
              <a:t>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578815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DF2F7"/>
                </a:solidFill>
                <a:latin typeface="Plus Jakarta Sans"/>
              </a:rPr>
              <a:t>No favoritism in peer scores — flagged and reviewed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1038</Words>
  <Application>Microsoft Office PowerPoint</Application>
  <PresentationFormat>Custom</PresentationFormat>
  <Paragraphs>140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JetBrains Mono</vt:lpstr>
      <vt:lpstr>Outfit</vt:lpstr>
      <vt:lpstr>Plus Jakarta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Mukhiddin Toshpulatov</cp:lastModifiedBy>
  <cp:revision>3</cp:revision>
  <dcterms:created xsi:type="dcterms:W3CDTF">2013-01-27T09:14:16Z</dcterms:created>
  <dcterms:modified xsi:type="dcterms:W3CDTF">2026-09-04T01:23:47Z</dcterms:modified>
  <cp:category/>
</cp:coreProperties>
</file>